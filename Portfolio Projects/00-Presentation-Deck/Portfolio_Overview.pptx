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1695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914400" y="2286000"/>
            <a:ext cx="10362895" cy="14630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/>
              </a:rPr>
              <a:t>Men's Footwear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  <a:latin typeface="Calibri"/>
              </a:rPr>
              <a:t>Revenue &amp; Growth Portfolio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600" b="0" dirty="0">
                <a:solidFill>
                  <a:srgbClr val="CADCFC"/>
                </a:solidFill>
                <a:latin typeface="Calibri"/>
              </a:rPr>
              <a:t>Four connected case studies in analytics rigor and product judgment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50" b="0" dirty="0">
                <a:solidFill>
                  <a:srgbClr val="CADCFC"/>
                </a:solidFill>
                <a:latin typeface="Calibri"/>
              </a:rPr>
              <a:t>Synthetic, seeded data throughout -- a demonstration of method, not real company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What's inside</a:t>
            </a:r>
          </a:p>
        </p:txBody>
      </p:sp>
      <p:sp>
        <p:nvSpPr>
          <p:cNvPr id="3" name="Rect3"/>
          <p:cNvSpPr/>
          <p:nvPr/>
        </p:nvSpPr>
        <p:spPr>
          <a:xfrm>
            <a:off x="640080" y="1737360"/>
            <a:ext cx="5272888" cy="19659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lipse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1645920" y="1993392"/>
            <a:ext cx="4038448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E2761"/>
                </a:solidFill>
                <a:latin typeface="Calibri"/>
              </a:rPr>
              <a:t>Category Growth Diagnostic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645920" y="2468880"/>
            <a:ext cx="4038448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SQL + a hand-rolled statistics model: what's really driving 74% YoY growth, and what's just noise.</a:t>
            </a:r>
          </a:p>
        </p:txBody>
      </p:sp>
      <p:sp>
        <p:nvSpPr>
          <p:cNvPr id="7" name="Rect7"/>
          <p:cNvSpPr/>
          <p:nvPr/>
        </p:nvSpPr>
        <p:spPr>
          <a:xfrm>
            <a:off x="6278728" y="1737360"/>
            <a:ext cx="5272888" cy="19659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lipse8"/>
          <p:cNvSpPr/>
          <p:nvPr/>
        </p:nvSpPr>
        <p:spPr>
          <a:xfrm>
            <a:off x="6553048" y="20116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284568" y="1993392"/>
            <a:ext cx="4038448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E2761"/>
                </a:solidFill>
                <a:latin typeface="Calibri"/>
              </a:rPr>
              <a:t>Pricing / Messaging A/B Test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284568" y="2468880"/>
            <a:ext cx="4038448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A pre-registered experiment on scarcity messaging -- design, power calc, and an honest, nuanced call.</a:t>
            </a:r>
          </a:p>
        </p:txBody>
      </p:sp>
      <p:sp>
        <p:nvSpPr>
          <p:cNvPr id="11" name="Rect11"/>
          <p:cNvSpPr/>
          <p:nvPr/>
        </p:nvSpPr>
        <p:spPr>
          <a:xfrm>
            <a:off x="640080" y="3977640"/>
            <a:ext cx="5272888" cy="19659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12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1645920" y="4233672"/>
            <a:ext cx="4038448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E2761"/>
                </a:solidFill>
                <a:latin typeface="Calibri"/>
              </a:rPr>
              <a:t>PM Case Study: PRD + Roadmap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645920" y="4709160"/>
            <a:ext cx="4038448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A product spec and a RICE-scored roadmap, grounded directly in the analytics findings.</a:t>
            </a:r>
          </a:p>
        </p:txBody>
      </p:sp>
      <p:sp>
        <p:nvSpPr>
          <p:cNvPr id="15" name="Rect15"/>
          <p:cNvSpPr/>
          <p:nvPr/>
        </p:nvSpPr>
        <p:spPr>
          <a:xfrm>
            <a:off x="6278728" y="3977640"/>
            <a:ext cx="5272888" cy="19659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16"/>
          <p:cNvSpPr/>
          <p:nvPr/>
        </p:nvSpPr>
        <p:spPr>
          <a:xfrm>
            <a:off x="6553048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284568" y="4233672"/>
            <a:ext cx="4038448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1E2761"/>
                </a:solidFill>
                <a:latin typeface="Calibri"/>
              </a:rPr>
              <a:t>Causal Discount Test (DiD)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284568" y="4709160"/>
            <a:ext cx="4038448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Resolving Project 01's own confound with a real natural-experiment design.</a:t>
            </a:r>
          </a:p>
        </p:txBody>
      </p:sp>
      <p:sp>
        <p:nvSpPr>
          <p:cNvPr id="19" name="Rect19"/>
          <p:cNvSpPr/>
          <p:nvPr/>
        </p:nvSpPr>
        <p:spPr>
          <a:xfrm>
            <a:off x="640080" y="6035040"/>
            <a:ext cx="10911535" cy="5029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20"/>
          <p:cNvSpPr txBox="1"/>
          <p:nvPr/>
        </p:nvSpPr>
        <p:spPr>
          <a:xfrm>
            <a:off x="868680" y="6035040"/>
            <a:ext cx="10454335" cy="5029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50" b="0" dirty="0">
                <a:solidFill>
                  <a:srgbClr val="1E2761"/>
                </a:solidFill>
                <a:latin typeface="Calibri"/>
              </a:rPr>
              <a:t>Note: every dataset here is synthetically generated and seeded (see each project's generate_data.py) -- this demonstrates method, not real Myntra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01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Category Growth Diagnostic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1737360"/>
            <a:ext cx="3291840" cy="17373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868680" y="1874520"/>
            <a:ext cx="2834640" cy="955548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l"/>
            <a:r>
              <a:rPr lang="en-US" sz="3400" b="1" dirty="0">
                <a:solidFill>
                  <a:srgbClr val="1E2761"/>
                </a:solidFill>
                <a:latin typeface="Calibri"/>
              </a:rPr>
              <a:t>+73.8%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68680" y="2779776"/>
            <a:ext cx="2834640" cy="557784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b="0" dirty="0">
                <a:solidFill>
                  <a:srgbClr val="52514E"/>
                </a:solidFill>
                <a:latin typeface="Calibri"/>
              </a:rPr>
              <a:t>YoY revenue growth
(Rs 12.1 Cr -&gt; Rs 21.1 Cr, Y1 to Y2)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40080" y="3657600"/>
            <a:ext cx="329184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00" b="1" dirty="0">
                <a:solidFill>
                  <a:srgbClr val="52514E"/>
                </a:solidFill>
                <a:latin typeface="Calibri"/>
              </a:rPr>
              <a:t>Quarterly revenue trend (Rs Cr):</a:t>
            </a:r>
          </a:p>
        </p:txBody>
      </p:sp>
      <p:sp>
        <p:nvSpPr>
          <p:cNvPr id="9" name="Rect9"/>
          <p:cNvSpPr/>
          <p:nvPr/>
        </p:nvSpPr>
        <p:spPr>
          <a:xfrm>
            <a:off x="4480560" y="4251960"/>
            <a:ext cx="7071055" cy="18288"/>
          </a:xfrm>
          <a:prstGeom prst="rect">
            <a:avLst/>
          </a:prstGeom>
          <a:solidFill>
            <a:srgbClr val="C3C2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10"/>
          <p:cNvSpPr/>
          <p:nvPr/>
        </p:nvSpPr>
        <p:spPr>
          <a:xfrm>
            <a:off x="4625695" y="3510981"/>
            <a:ext cx="473597" cy="74097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4488535" y="3218373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1.9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442815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23 Q1</a:t>
            </a:r>
          </a:p>
        </p:txBody>
      </p:sp>
      <p:sp>
        <p:nvSpPr>
          <p:cNvPr id="13" name="Rect13"/>
          <p:cNvSpPr/>
          <p:nvPr/>
        </p:nvSpPr>
        <p:spPr>
          <a:xfrm>
            <a:off x="5526722" y="3231143"/>
            <a:ext cx="473597" cy="102081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5389562" y="2938535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2.6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5343842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23 Q2</a:t>
            </a:r>
          </a:p>
        </p:txBody>
      </p:sp>
      <p:sp>
        <p:nvSpPr>
          <p:cNvPr id="16" name="Rect16"/>
          <p:cNvSpPr/>
          <p:nvPr/>
        </p:nvSpPr>
        <p:spPr>
          <a:xfrm>
            <a:off x="6427749" y="2939481"/>
            <a:ext cx="473597" cy="131247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17"/>
          <p:cNvSpPr txBox="1"/>
          <p:nvPr/>
        </p:nvSpPr>
        <p:spPr>
          <a:xfrm>
            <a:off x="6290589" y="2646873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3.3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44869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23 Q3</a:t>
            </a:r>
          </a:p>
        </p:txBody>
      </p:sp>
      <p:sp>
        <p:nvSpPr>
          <p:cNvPr id="19" name="Rect19"/>
          <p:cNvSpPr/>
          <p:nvPr/>
        </p:nvSpPr>
        <p:spPr>
          <a:xfrm>
            <a:off x="7328775" y="2545343"/>
            <a:ext cx="473597" cy="170661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20"/>
          <p:cNvSpPr txBox="1"/>
          <p:nvPr/>
        </p:nvSpPr>
        <p:spPr>
          <a:xfrm>
            <a:off x="7191615" y="2252735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4.3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7145895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23 Q4</a:t>
            </a:r>
          </a:p>
        </p:txBody>
      </p:sp>
      <p:sp>
        <p:nvSpPr>
          <p:cNvPr id="22" name="Rect22"/>
          <p:cNvSpPr/>
          <p:nvPr/>
        </p:nvSpPr>
        <p:spPr>
          <a:xfrm>
            <a:off x="8229802" y="2438926"/>
            <a:ext cx="473597" cy="181303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23"/>
          <p:cNvSpPr txBox="1"/>
          <p:nvPr/>
        </p:nvSpPr>
        <p:spPr>
          <a:xfrm>
            <a:off x="8092642" y="2146318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4.6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8046922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24 Q1</a:t>
            </a:r>
          </a:p>
        </p:txBody>
      </p:sp>
      <p:sp>
        <p:nvSpPr>
          <p:cNvPr id="25" name="Rect25"/>
          <p:cNvSpPr/>
          <p:nvPr/>
        </p:nvSpPr>
        <p:spPr>
          <a:xfrm>
            <a:off x="9130829" y="2379805"/>
            <a:ext cx="473597" cy="187215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26"/>
          <p:cNvSpPr txBox="1"/>
          <p:nvPr/>
        </p:nvSpPr>
        <p:spPr>
          <a:xfrm>
            <a:off x="8993669" y="2087197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4.8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8947949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24 Q2</a:t>
            </a:r>
          </a:p>
        </p:txBody>
      </p:sp>
      <p:sp>
        <p:nvSpPr>
          <p:cNvPr id="28" name="Rect28"/>
          <p:cNvSpPr/>
          <p:nvPr/>
        </p:nvSpPr>
        <p:spPr>
          <a:xfrm>
            <a:off x="10031856" y="2131498"/>
            <a:ext cx="473597" cy="212046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29"/>
          <p:cNvSpPr txBox="1"/>
          <p:nvPr/>
        </p:nvSpPr>
        <p:spPr>
          <a:xfrm>
            <a:off x="9894696" y="1838890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5.4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9848976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24 Q3</a:t>
            </a:r>
          </a:p>
        </p:txBody>
      </p:sp>
      <p:sp>
        <p:nvSpPr>
          <p:cNvPr id="31" name="Rect31"/>
          <p:cNvSpPr/>
          <p:nvPr/>
        </p:nvSpPr>
        <p:spPr>
          <a:xfrm>
            <a:off x="10932883" y="1737360"/>
            <a:ext cx="473597" cy="25146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10795723" y="1444752"/>
            <a:ext cx="747917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6.4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10750003" y="4297680"/>
            <a:ext cx="839357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24 Q4</a:t>
            </a:r>
          </a:p>
        </p:txBody>
      </p:sp>
      <p:sp>
        <p:nvSpPr>
          <p:cNvPr id="34" name="Ellipse34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5" name="Text35"/>
          <p:cNvSpPr txBox="1"/>
          <p:nvPr/>
        </p:nvSpPr>
        <p:spPr>
          <a:xfrm>
            <a:off x="1280160" y="5029200"/>
            <a:ext cx="2743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Retention</a:t>
            </a:r>
          </a:p>
        </p:txBody>
      </p:sp>
      <p:sp>
        <p:nvSpPr>
          <p:cNvPr id="36" name="Text36"/>
          <p:cNvSpPr txBox="1"/>
          <p:nvPr/>
        </p:nvSpPr>
        <p:spPr>
          <a:xfrm>
            <a:off x="1280160" y="5330952"/>
            <a:ext cx="2743200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100% -&gt; 33.2% (month 1) -&gt; 7.6% (month 6) -- the month-1 drop is the single largest lever found.</a:t>
            </a:r>
          </a:p>
        </p:txBody>
      </p:sp>
      <p:sp>
        <p:nvSpPr>
          <p:cNvPr id="37" name="Ellipse37"/>
          <p:cNvSpPr/>
          <p:nvPr/>
        </p:nvSpPr>
        <p:spPr>
          <a:xfrm>
            <a:off x="4389120" y="5074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8" name="Text38"/>
          <p:cNvSpPr txBox="1"/>
          <p:nvPr/>
        </p:nvSpPr>
        <p:spPr>
          <a:xfrm>
            <a:off x="5029200" y="5029200"/>
            <a:ext cx="2743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Channels</a:t>
            </a:r>
          </a:p>
        </p:txBody>
      </p:sp>
      <p:sp>
        <p:nvSpPr>
          <p:cNvPr id="39" name="Text39"/>
          <p:cNvSpPr txBox="1"/>
          <p:nvPr/>
        </p:nvSpPr>
        <p:spPr>
          <a:xfrm>
            <a:off x="5029200" y="5330952"/>
            <a:ext cx="2743200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Paid Search/Social carry 60-66% new-customer share vs. Organic's 34% -- true acquisition engines.</a:t>
            </a:r>
          </a:p>
        </p:txBody>
      </p:sp>
      <p:sp>
        <p:nvSpPr>
          <p:cNvPr id="40" name="Ellipse40"/>
          <p:cNvSpPr/>
          <p:nvPr/>
        </p:nvSpPr>
        <p:spPr>
          <a:xfrm>
            <a:off x="8138160" y="5074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1" name="Text41"/>
          <p:cNvSpPr txBox="1"/>
          <p:nvPr/>
        </p:nvSpPr>
        <p:spPr>
          <a:xfrm>
            <a:off x="8778240" y="5029200"/>
            <a:ext cx="2743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Geography</a:t>
            </a:r>
          </a:p>
        </p:txBody>
      </p:sp>
      <p:sp>
        <p:nvSpPr>
          <p:cNvPr id="42" name="Text42"/>
          <p:cNvSpPr txBox="1"/>
          <p:nvPr/>
        </p:nvSpPr>
        <p:spPr>
          <a:xfrm>
            <a:off x="8778240" y="5330952"/>
            <a:ext cx="2743200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Tier 3 cities grew fastest YoY (+75.2%) -- not purely a metro story.</a:t>
            </a:r>
          </a:p>
        </p:txBody>
      </p:sp>
      <p:sp>
        <p:nvSpPr>
          <p:cNvPr id="43" name="Text4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findings.json, sql_queries/results/ -- 01-Category-Growth-Diagnostic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01 -- METHODOLOGY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Rigor beats a good-looking number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1828800"/>
            <a:ext cx="5272888" cy="329184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914400" y="2057400"/>
            <a:ext cx="4724248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1E2761"/>
                </a:solidFill>
                <a:latin typeface="Calibri"/>
              </a:rPr>
              <a:t>Naive regression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2514600"/>
            <a:ext cx="4724248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4600" b="1" dirty="0">
                <a:solidFill>
                  <a:srgbClr val="1E2761"/>
                </a:solidFill>
                <a:latin typeface="Calibri"/>
              </a:rPr>
              <a:t>+29.2%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3429000"/>
            <a:ext cx="4724248" cy="1463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b="0" dirty="0">
                <a:solidFill>
                  <a:srgbClr val="52514E"/>
                </a:solidFill>
                <a:latin typeface="Calibri"/>
              </a:rPr>
              <a:t>order lift per +10pt discount, from a log-log regression on the raw data (n=120 category-months, R²=0.145)</a:t>
            </a:r>
          </a:p>
        </p:txBody>
      </p:sp>
      <p:sp>
        <p:nvSpPr>
          <p:cNvPr id="9" name="Rect9"/>
          <p:cNvSpPr/>
          <p:nvPr/>
        </p:nvSpPr>
        <p:spPr>
          <a:xfrm>
            <a:off x="6278728" y="1828800"/>
            <a:ext cx="5272888" cy="32918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6553048" y="2057400"/>
            <a:ext cx="4724248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The catch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53048" y="2514600"/>
            <a:ext cx="4724248" cy="23774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0" dirty="0">
                <a:solidFill>
                  <a:srgbClr val="CADCFC"/>
                </a:solidFill>
                <a:latin typeface="Calibri"/>
              </a:rPr>
              <a:t>Deep discounts cluster in festive/EOSS months -- which are independently high-demand periods. This regression cannot tell "the discount caused it" apart from "it was going to happen anyway, in a month that also carried a discount."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1" dirty="0">
                <a:solidFill>
                  <a:srgbClr val="1E2761"/>
                </a:solidFill>
                <a:latin typeface="Calibri"/>
              </a:rPr>
              <a:t>-&gt; See Project 04: an isolated natural experiment resolves this confound directly.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01-Category-Growth-Diagnostic/executive_summary.md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02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Pricing / Messaging A/B Test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1737360"/>
            <a:ext cx="3931920" cy="35661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914400" y="1920240"/>
            <a:ext cx="33832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1" dirty="0">
                <a:solidFill>
                  <a:srgbClr val="1E2761"/>
                </a:solidFill>
                <a:latin typeface="Calibri"/>
              </a:rPr>
              <a:t>Design (written before results)</a:t>
            </a:r>
          </a:p>
        </p:txBody>
      </p:sp>
      <p:sp>
        <p:nvSpPr>
          <p:cNvPr id="7" name="Ellipse7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1188720" y="2249424"/>
            <a:ext cx="338328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Hypothesis: scarcity messaging lifts PDP -&gt; Cart conversion</a:t>
            </a:r>
          </a:p>
        </p:txBody>
      </p:sp>
      <p:sp>
        <p:nvSpPr>
          <p:cNvPr id="9" name="Ellipse9"/>
          <p:cNvSpPr/>
          <p:nvPr/>
        </p:nvSpPr>
        <p:spPr>
          <a:xfrm>
            <a:off x="914400" y="2999232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1188720" y="2871216"/>
            <a:ext cx="338328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Primary metric: conversion rate; guardrails: AOV, return rate</a:t>
            </a:r>
          </a:p>
        </p:txBody>
      </p:sp>
      <p:sp>
        <p:nvSpPr>
          <p:cNvPr id="11" name="Ellipse11"/>
          <p:cNvSpPr/>
          <p:nvPr/>
        </p:nvSpPr>
        <p:spPr>
          <a:xfrm>
            <a:off x="914400" y="3621024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1188720" y="3493008"/>
            <a:ext cx="338328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Power calc: ~18,600 sessions/arm (80% power, +8% MDE)</a:t>
            </a:r>
          </a:p>
        </p:txBody>
      </p:sp>
      <p:sp>
        <p:nvSpPr>
          <p:cNvPr id="13" name="Ellipse13"/>
          <p:cNvSpPr/>
          <p:nvPr/>
        </p:nvSpPr>
        <p:spPr>
          <a:xfrm>
            <a:off x="914400" y="4242816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1188720" y="4114800"/>
            <a:ext cx="338328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Duration: 21 days, no early stopping</a:t>
            </a:r>
          </a:p>
        </p:txBody>
      </p:sp>
      <p:sp>
        <p:nvSpPr>
          <p:cNvPr id="15" name="Rect15"/>
          <p:cNvSpPr/>
          <p:nvPr/>
        </p:nvSpPr>
        <p:spPr>
          <a:xfrm>
            <a:off x="5029200" y="4251960"/>
            <a:ext cx="6522415" cy="18288"/>
          </a:xfrm>
          <a:prstGeom prst="rect">
            <a:avLst/>
          </a:prstGeom>
          <a:solidFill>
            <a:srgbClr val="C3C2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16"/>
          <p:cNvSpPr/>
          <p:nvPr/>
        </p:nvSpPr>
        <p:spPr>
          <a:xfrm>
            <a:off x="5635799" y="1897079"/>
            <a:ext cx="1979429" cy="235488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17"/>
          <p:cNvSpPr txBox="1"/>
          <p:nvPr/>
        </p:nvSpPr>
        <p:spPr>
          <a:xfrm>
            <a:off x="5498639" y="1604471"/>
            <a:ext cx="2253749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12.09%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452919" y="4297680"/>
            <a:ext cx="2345189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Control</a:t>
            </a:r>
          </a:p>
        </p:txBody>
      </p:sp>
      <p:sp>
        <p:nvSpPr>
          <p:cNvPr id="19" name="Rect19"/>
          <p:cNvSpPr/>
          <p:nvPr/>
        </p:nvSpPr>
        <p:spPr>
          <a:xfrm>
            <a:off x="8965587" y="1737360"/>
            <a:ext cx="1979429" cy="25146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20"/>
          <p:cNvSpPr txBox="1"/>
          <p:nvPr/>
        </p:nvSpPr>
        <p:spPr>
          <a:xfrm>
            <a:off x="8828427" y="1444752"/>
            <a:ext cx="2253749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12.91%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782707" y="4297680"/>
            <a:ext cx="2345189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Treatment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5029200" y="4846320"/>
            <a:ext cx="652241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52514E"/>
                </a:solidFill>
                <a:latin typeface="Calibri"/>
              </a:rPr>
              <a:t>PDP -&gt; Cart conversion rate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640080" y="5486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0" dirty="0">
                <a:solidFill>
                  <a:srgbClr val="0B0B0B"/>
                </a:solidFill>
                <a:latin typeface="Calibri"/>
              </a:rPr>
              <a:t>z = 2.85, p = 0.0044 -&gt; statistically significant -- but +6.8% relative lift falls just short of the +8% MDE the test was powered for.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02-Pricing-AB-Test/readout.md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02 -- GUARDRAILS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A win with a catch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4434840"/>
            <a:ext cx="4206240" cy="18288"/>
          </a:xfrm>
          <a:prstGeom prst="rect">
            <a:avLst/>
          </a:prstGeom>
          <a:solidFill>
            <a:srgbClr val="C3C2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6"/>
          <p:cNvSpPr/>
          <p:nvPr/>
        </p:nvSpPr>
        <p:spPr>
          <a:xfrm>
            <a:off x="1026643" y="2170842"/>
            <a:ext cx="1261415" cy="226399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7"/>
          <p:cNvSpPr txBox="1"/>
          <p:nvPr/>
        </p:nvSpPr>
        <p:spPr>
          <a:xfrm>
            <a:off x="889483" y="1878234"/>
            <a:ext cx="1535735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9.61%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43763" y="4480560"/>
            <a:ext cx="1627175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Control</a:t>
            </a:r>
          </a:p>
        </p:txBody>
      </p:sp>
      <p:sp>
        <p:nvSpPr>
          <p:cNvPr id="9" name="Rect9"/>
          <p:cNvSpPr/>
          <p:nvPr/>
        </p:nvSpPr>
        <p:spPr>
          <a:xfrm>
            <a:off x="3198343" y="1737360"/>
            <a:ext cx="1261415" cy="2697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3061183" y="1444752"/>
            <a:ext cx="1535735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11.45%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015463" y="4480560"/>
            <a:ext cx="1627175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Treatment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640080" y="4892040"/>
            <a:ext cx="420624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52514E"/>
                </a:solidFill>
                <a:latin typeface="Calibri"/>
              </a:rPr>
              <a:t>Return rate (among converters)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40080" y="5349240"/>
            <a:ext cx="420624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1" dirty="0">
                <a:solidFill>
                  <a:srgbClr val="D03B3B"/>
                </a:solidFill>
                <a:latin typeface="Calibri"/>
              </a:rPr>
              <a:t>+1.84 pts, p = 0.0156 -&gt; a real regression, not noise</a:t>
            </a:r>
          </a:p>
        </p:txBody>
      </p:sp>
      <p:sp>
        <p:nvSpPr>
          <p:cNvPr id="14" name="Rect14"/>
          <p:cNvSpPr/>
          <p:nvPr/>
        </p:nvSpPr>
        <p:spPr>
          <a:xfrm>
            <a:off x="5394960" y="1737360"/>
            <a:ext cx="6156655" cy="4114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5669280" y="1965960"/>
            <a:ext cx="588233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5669280" y="2423160"/>
            <a:ext cx="5699455" cy="3200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50" b="0" dirty="0">
                <a:solidFill>
                  <a:srgbClr val="CADCFC"/>
                </a:solidFill>
                <a:latin typeface="Calibri"/>
              </a:rPr>
              <a:t>Do not blanket-ship. AOV is clean, but the return-rate guardrail moved -- likely urgency pulling forward size-uncertain purchases.</a:t>
            </a:r>
          </a:p>
          <a:p>
            <a:pPr algn="l"/>
            <a:r>
              <a:rPr lang="en-US" sz="600" b="0" dirty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lang="en-US" sz="1250" b="1" dirty="0">
                <a:solidFill>
                  <a:srgbClr val="FFFFFF"/>
                </a:solidFill>
                <a:latin typeface="Calibri"/>
              </a:rPr>
              <a:t>Ship a scoped version: only below a low-stock threshold, paired with an inline size-guide prompt. Hold a 2-week return-rate tripwire before calling it resolved.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02-Pricing-AB-Test/readout.md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03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PM Case Study: PRD + RICE Roadmap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1737360"/>
            <a:ext cx="3749040" cy="411480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914400" y="1920240"/>
            <a:ext cx="32004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1" dirty="0">
                <a:solidFill>
                  <a:srgbClr val="1E2761"/>
                </a:solidFill>
                <a:latin typeface="Calibri"/>
              </a:rPr>
              <a:t>Smart Size &amp; Fit Recommendation</a:t>
            </a:r>
          </a:p>
        </p:txBody>
      </p:sp>
      <p:sp>
        <p:nvSpPr>
          <p:cNvPr id="7" name="Ellipse7"/>
          <p:cNvSpPr/>
          <p:nvPr/>
        </p:nvSpPr>
        <p:spPr>
          <a:xfrm>
            <a:off x="914400" y="2377440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1188720" y="2249424"/>
            <a:ext cx="30175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Problem: Formal Shoes return ~14% vs ~5-10% baseline -- a sizing/fit gap sized directly from Project 01</a:t>
            </a:r>
          </a:p>
        </p:txBody>
      </p:sp>
      <p:sp>
        <p:nvSpPr>
          <p:cNvPr id="9" name="Ellipse9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1188720" y="3209544"/>
            <a:ext cx="30175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MVP: a static brand-fit badge, not a model -- test the mechanism before personalizing</a:t>
            </a:r>
          </a:p>
        </p:txBody>
      </p:sp>
      <p:sp>
        <p:nvSpPr>
          <p:cNvPr id="11" name="Ellipse11"/>
          <p:cNvSpPr/>
          <p:nvPr/>
        </p:nvSpPr>
        <p:spPr>
          <a:xfrm>
            <a:off x="914400" y="4297680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1188720" y="4169664"/>
            <a:ext cx="30175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Guardrail: ship as an A/B test; conversion must not regress</a:t>
            </a:r>
          </a:p>
        </p:txBody>
      </p:sp>
      <p:sp>
        <p:nvSpPr>
          <p:cNvPr id="13" name="Rect13"/>
          <p:cNvSpPr/>
          <p:nvPr/>
        </p:nvSpPr>
        <p:spPr>
          <a:xfrm>
            <a:off x="4937760" y="5349240"/>
            <a:ext cx="6613855" cy="18288"/>
          </a:xfrm>
          <a:prstGeom prst="rect">
            <a:avLst/>
          </a:prstGeom>
          <a:solidFill>
            <a:srgbClr val="C3C2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14"/>
          <p:cNvSpPr/>
          <p:nvPr/>
        </p:nvSpPr>
        <p:spPr>
          <a:xfrm>
            <a:off x="5094941" y="1737360"/>
            <a:ext cx="512908" cy="3611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4957781" y="1444752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840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912061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Budget
reallocation</a:t>
            </a:r>
          </a:p>
        </p:txBody>
      </p:sp>
      <p:sp>
        <p:nvSpPr>
          <p:cNvPr id="17" name="Rect17"/>
          <p:cNvSpPr/>
          <p:nvPr/>
        </p:nvSpPr>
        <p:spPr>
          <a:xfrm>
            <a:off x="6059372" y="4833257"/>
            <a:ext cx="512908" cy="515983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18"/>
          <p:cNvSpPr txBox="1"/>
          <p:nvPr/>
        </p:nvSpPr>
        <p:spPr>
          <a:xfrm>
            <a:off x="5922212" y="4540649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120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5876492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Discount
calendar</a:t>
            </a:r>
          </a:p>
        </p:txBody>
      </p:sp>
      <p:sp>
        <p:nvSpPr>
          <p:cNvPr id="20" name="Rect20"/>
          <p:cNvSpPr/>
          <p:nvPr/>
        </p:nvSpPr>
        <p:spPr>
          <a:xfrm>
            <a:off x="7023803" y="4919254"/>
            <a:ext cx="512908" cy="42998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6886643" y="4626646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100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6840923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Retention
campaign</a:t>
            </a:r>
          </a:p>
        </p:txBody>
      </p:sp>
      <p:sp>
        <p:nvSpPr>
          <p:cNvPr id="23" name="Rect23"/>
          <p:cNvSpPr/>
          <p:nvPr/>
        </p:nvSpPr>
        <p:spPr>
          <a:xfrm>
            <a:off x="7988234" y="5039650"/>
            <a:ext cx="512908" cy="30959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24"/>
          <p:cNvSpPr txBox="1"/>
          <p:nvPr/>
        </p:nvSpPr>
        <p:spPr>
          <a:xfrm>
            <a:off x="7851074" y="4747042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72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805354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Smart Fit
MVP</a:t>
            </a:r>
          </a:p>
        </p:txBody>
      </p:sp>
      <p:sp>
        <p:nvSpPr>
          <p:cNvPr id="26" name="Rect26"/>
          <p:cNvSpPr/>
          <p:nvPr/>
        </p:nvSpPr>
        <p:spPr>
          <a:xfrm>
            <a:off x="8952664" y="5074049"/>
            <a:ext cx="512908" cy="27519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27"/>
          <p:cNvSpPr txBox="1"/>
          <p:nvPr/>
        </p:nvSpPr>
        <p:spPr>
          <a:xfrm>
            <a:off x="8815504" y="4781441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64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8769784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Scarcity
msg. (scoped)</a:t>
            </a:r>
          </a:p>
        </p:txBody>
      </p:sp>
      <p:sp>
        <p:nvSpPr>
          <p:cNvPr id="29" name="Rect29"/>
          <p:cNvSpPr/>
          <p:nvPr/>
        </p:nvSpPr>
        <p:spPr>
          <a:xfrm>
            <a:off x="9917095" y="5273992"/>
            <a:ext cx="512908" cy="75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30"/>
          <p:cNvSpPr txBox="1"/>
          <p:nvPr/>
        </p:nvSpPr>
        <p:spPr>
          <a:xfrm>
            <a:off x="9779935" y="4981384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17.5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9734215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Tier 3
fulfillment</a:t>
            </a:r>
          </a:p>
        </p:txBody>
      </p:sp>
      <p:sp>
        <p:nvSpPr>
          <p:cNvPr id="32" name="Rect32"/>
          <p:cNvSpPr/>
          <p:nvPr/>
        </p:nvSpPr>
        <p:spPr>
          <a:xfrm>
            <a:off x="10881526" y="5303520"/>
            <a:ext cx="512908" cy="4572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33"/>
          <p:cNvSpPr txBox="1"/>
          <p:nvPr/>
        </p:nvSpPr>
        <p:spPr>
          <a:xfrm>
            <a:off x="10744366" y="5010912"/>
            <a:ext cx="787228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0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10698646" y="5394960"/>
            <a:ext cx="878668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Return-reason
tagging</a:t>
            </a:r>
          </a:p>
        </p:txBody>
      </p:sp>
      <p:sp>
        <p:nvSpPr>
          <p:cNvPr id="35" name="Text35"/>
          <p:cNvSpPr txBox="1"/>
          <p:nvPr/>
        </p:nvSpPr>
        <p:spPr>
          <a:xfrm>
            <a:off x="4937760" y="5806440"/>
            <a:ext cx="661385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50" b="1" dirty="0">
                <a:solidFill>
                  <a:srgbClr val="52514E"/>
                </a:solidFill>
                <a:latin typeface="Calibri"/>
              </a:rPr>
              <a:t>RICE score, 7 initiatives (computed, not hand-ranked)</a:t>
            </a:r>
          </a:p>
        </p:txBody>
      </p:sp>
      <p:sp>
        <p:nvSpPr>
          <p:cNvPr id="36" name="Text36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03-PM-Smart-Fit-PRD-and-Roadmap/roadmap_prioritization.md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03 -- JUDGMENT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A score is an input, not an answer</a:t>
            </a:r>
          </a:p>
        </p:txBody>
      </p:sp>
      <p:sp>
        <p:nvSpPr>
          <p:cNvPr id="5" name="Ellipse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280160" y="187452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Real data beats a good estimate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1280160" y="217627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Scoped scarcity messaging ranks high on confidence (0.8) because it's backed by an actual completed experiment (Project 02) -- not a guess. It should be sequenced first: nearly shipped already.</a:t>
            </a:r>
          </a:p>
        </p:txBody>
      </p:sp>
      <p:sp>
        <p:nvSpPr>
          <p:cNvPr id="8" name="Ellipse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280160" y="315468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A confidence score can do real work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280160" y="345643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Discount-calendar redesign scores 120 on reach and effort alone -- but Project 01 already flagged its elasticity estimate as confounded, so confidence was deliberately set low (0.2). A naive score would over-rank it.</a:t>
            </a:r>
          </a:p>
        </p:txBody>
      </p:sp>
      <p:sp>
        <p:nvSpPr>
          <p:cNvPr id="11" name="Ellipse11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280160" y="443484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RICE has a blind spot -- know it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1280160" y="473659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Return-reason tagging scores 0.0 because RICE divides by "reach," which is undefined for pure infrastructure work. It's still sequenced first in practice: it's a hard blocker for the PRD above.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03-PM-Smart-Fit-PRD-and-Roadmap/roadmap_prioritization.md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40080" y="457200"/>
            <a:ext cx="237744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PROJECT 04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Closing the loop: does a discount really cause demand?</a:t>
            </a:r>
          </a:p>
        </p:txBody>
      </p:sp>
      <p:sp>
        <p:nvSpPr>
          <p:cNvPr id="5" name="Rect5"/>
          <p:cNvSpPr/>
          <p:nvPr/>
        </p:nvSpPr>
        <p:spPr>
          <a:xfrm>
            <a:off x="640080" y="4434840"/>
            <a:ext cx="5120640" cy="18288"/>
          </a:xfrm>
          <a:prstGeom prst="rect">
            <a:avLst/>
          </a:prstGeom>
          <a:solidFill>
            <a:srgbClr val="C3C2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6"/>
          <p:cNvSpPr/>
          <p:nvPr/>
        </p:nvSpPr>
        <p:spPr>
          <a:xfrm>
            <a:off x="1113511" y="1828800"/>
            <a:ext cx="1544879" cy="2606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7"/>
          <p:cNvSpPr txBox="1"/>
          <p:nvPr/>
        </p:nvSpPr>
        <p:spPr>
          <a:xfrm>
            <a:off x="976351" y="1536192"/>
            <a:ext cx="1819199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29.2%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30631" y="4480560"/>
            <a:ext cx="1910639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Naive
(confounded)</a:t>
            </a:r>
          </a:p>
        </p:txBody>
      </p:sp>
      <p:sp>
        <p:nvSpPr>
          <p:cNvPr id="9" name="Rect9"/>
          <p:cNvSpPr/>
          <p:nvPr/>
        </p:nvSpPr>
        <p:spPr>
          <a:xfrm>
            <a:off x="3742411" y="3203218"/>
            <a:ext cx="1544879" cy="1231622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3605251" y="2910610"/>
            <a:ext cx="1819199" cy="274320"/>
          </a:xfrm>
          <a:prstGeom prst="rect">
            <a:avLst/>
          </a:prstGeom>
          <a:noFill/>
        </p:spPr>
        <p:txBody>
          <a:bodyPr wrap="square" anchor="b" lIns="0" tIns="0" rIns="0" bIns="0"/>
          <a:lstStyle/>
          <a:p>
            <a:pPr algn="ctr"/>
            <a:r>
              <a:rPr lang="en-US" sz="1100" b="1" dirty="0">
                <a:solidFill>
                  <a:srgbClr val="0B0B0B"/>
                </a:solidFill>
                <a:latin typeface="Calibri"/>
              </a:rPr>
              <a:t>13.8%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559531" y="4480560"/>
            <a:ext cx="1910639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000" b="0" dirty="0">
                <a:solidFill>
                  <a:srgbClr val="52514E"/>
                </a:solidFill>
                <a:latin typeface="Calibri"/>
              </a:rPr>
              <a:t>Causal
(DiD)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640080" y="5029200"/>
            <a:ext cx="512064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52514E"/>
                </a:solidFill>
                <a:latin typeface="Calibri"/>
              </a:rPr>
              <a:t>% order lift per +10pt discount</a:t>
            </a:r>
          </a:p>
        </p:txBody>
      </p:sp>
      <p:sp>
        <p:nvSpPr>
          <p:cNvPr id="13" name="Rect13"/>
          <p:cNvSpPr/>
          <p:nvPr/>
        </p:nvSpPr>
        <p:spPr>
          <a:xfrm>
            <a:off x="6309360" y="1828800"/>
            <a:ext cx="5242255" cy="3566160"/>
          </a:xfrm>
          <a:prstGeom prst="round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6583680" y="2011680"/>
            <a:ext cx="478505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300" b="1" dirty="0">
                <a:solidFill>
                  <a:srgbClr val="1E2761"/>
                </a:solidFill>
                <a:latin typeface="Calibri"/>
              </a:rPr>
              <a:t>How it's identified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6583680" y="2468880"/>
            <a:ext cx="4785055" cy="11887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Sneakers ran an isolated clearance discount in a seasonally flat month (May) -- no other category or season changed. Difference-in-differences vs. 4 untouched categories isolates the discount's own effect.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6583680" y="3749040"/>
            <a:ext cx="478505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1E2761"/>
                </a:solidFill>
                <a:latin typeface="Calibri"/>
              </a:rPr>
              <a:t>Parallel-trends check: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583680" y="4069080"/>
            <a:ext cx="478505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r = 0.67 to 0.96 across the 4 controls, pre-period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583680" y="4526280"/>
            <a:ext cx="478505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1E2761"/>
                </a:solidFill>
                <a:latin typeface="Calibri"/>
              </a:rPr>
              <a:t>Significance (permutation test):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6583680" y="4846320"/>
            <a:ext cx="4785055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52514E"/>
                </a:solidFill>
                <a:latin typeface="Calibri"/>
              </a:rPr>
              <a:t>p ≈ 0.20 -- with only 4 placebo draws, this is the test's own floor, stated plainly rather than hidden.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0" dirty="0">
                <a:solidFill>
                  <a:srgbClr val="898781"/>
                </a:solidFill>
                <a:latin typeface="Calibri"/>
              </a:rPr>
              <a:t>Source: 04-Causal-Discount-Effect-DiD/causal_readout.md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Why this portfolio</a:t>
            </a:r>
          </a:p>
        </p:txBody>
      </p:sp>
      <p:sp>
        <p:nvSpPr>
          <p:cNvPr id="3" name="Ellipse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1280160" y="187452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One thread, four layers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1280160" y="217627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CADCFC"/>
                </a:solidFill>
                <a:latin typeface="Calibri"/>
              </a:rPr>
              <a:t>SQL -&gt; statistics -&gt; experiment design -&gt; causal inference -&gt; product prioritization, all pointed at the same sizing/returns problem.</a:t>
            </a:r>
          </a:p>
        </p:txBody>
      </p:sp>
      <p:sp>
        <p:nvSpPr>
          <p:cNvPr id="6" name="Ellipse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1280160" y="297180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Caveats are on purpose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280160" y="327355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CADCFC"/>
                </a:solidFill>
                <a:latin typeface="Calibri"/>
              </a:rPr>
              <a:t>A flagged confound, a stated permutation-test floor, a RICE blind spot named out loud -- the judgment is the deliverable, not just the numbers.</a:t>
            </a:r>
          </a:p>
        </p:txBody>
      </p:sp>
      <p:sp>
        <p:nvSpPr>
          <p:cNvPr id="9" name="Ellipse9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280160" y="4069080"/>
            <a:ext cx="1027145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400" b="1" dirty="0">
                <a:solidFill>
                  <a:srgbClr val="0B0B0B"/>
                </a:solidFill>
                <a:latin typeface="Calibri"/>
              </a:rPr>
              <a:t>Built to be verified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280160" y="4370832"/>
            <a:ext cx="10271455" cy="6858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150" b="0" dirty="0">
                <a:solidFill>
                  <a:srgbClr val="CADCFC"/>
                </a:solidFill>
                <a:latin typeface="Calibri"/>
              </a:rPr>
              <a:t>Every chart and stat here is generated by a script in the repo -- rerun it and the numbers reproduce exactly.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github.com/Nitesh98/Data-Science--Cheat-Sheet -- Portfolio Projects/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050" b="0" dirty="0">
                <a:solidFill>
                  <a:srgbClr val="CADCFC"/>
                </a:solidFill>
                <a:latin typeface="Calibri"/>
              </a:rPr>
              <a:t>Synthetic data throughout -- ask me anything about the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ysClr val="windowText" lastClr="000000"/>
      </a:dk1>
      <a:lt1>
        <a:sysClr val="window" lastClr="FFFFFF"/>
      </a:lt1>
      <a:dk2>
        <a:srgbClr val="1E2761"/>
      </a:dk2>
      <a:lt2>
        <a:srgbClr val="CADCFC"/>
      </a:lt2>
      <a:accent1>
        <a:srgbClr val="1E2761"/>
      </a:accent1>
      <a:accent2>
        <a:srgbClr val="CADCFC"/>
      </a:accent2>
      <a:accent3>
        <a:srgbClr val="FFFFFF"/>
      </a:accent3>
      <a:accent4>
        <a:srgbClr val="52514E"/>
      </a:accent4>
      <a:accent5>
        <a:srgbClr val="0CA30C"/>
      </a:accent5>
      <a:accent6>
        <a:srgbClr val="D03B3B"/>
      </a:accent6>
      <a:hlink>
        <a:srgbClr val="1E2761"/>
      </a:hlink>
      <a:folHlink>
        <a:srgbClr val="CADCFC"/>
      </a:folHlink>
    </a:clrScheme>
    <a:fontScheme name="Portfoli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ortfol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python-stdlib-pptx-builder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Portfolio Projects</dc:title>
  <dc:creator>Portfolio</dc:creator>
</cp:coreProperties>
</file>